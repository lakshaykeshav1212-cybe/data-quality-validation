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E6FEB-FDE8-FA8A-CBD1-08E0DECFC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A0A7CC-1CA3-22DB-A495-7203A88BB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E5E4F-2C1C-0CFC-8EE0-92E428F77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CF60-F1C7-4253-BCE3-D90BF4FEFDE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75AB4-D325-0BE8-D187-FCE0855D1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25363-4E19-1AB5-AD19-354DD80FD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8036-695A-4865-91BB-B6C3C1433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117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8188-5C68-D31C-2050-FA811FADD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D594-D166-6A35-D6A5-48911B870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1989B-A321-0F9D-E1CD-4E5802789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CF60-F1C7-4253-BCE3-D90BF4FEFDE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A726B-C0FD-6BFF-8483-05F37833F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DFC7F-3C5F-EC67-9857-1A5FD911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8036-695A-4865-91BB-B6C3C1433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182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07B23-C6E7-72A3-83BD-AA6706BC5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16C59-D79D-07C7-46CF-16155C78E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3AA6B-C6AB-1D54-4ECD-788927366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CF60-F1C7-4253-BCE3-D90BF4FEFDE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9C3F-988E-790E-9C02-AFD0624D1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BC3C9-C31F-6DF2-1F0E-9DF9DD21A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8036-695A-4865-91BB-B6C3C1433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4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5FB6-9525-AB01-DEBD-A34F126BA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70A8F-981D-292B-AD83-47AFA2662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A1D63-BEBD-3E72-51F8-2FDB7B667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98FEC-02A2-0CA5-5F35-F5012D7DB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CF60-F1C7-4253-BCE3-D90BF4FEFDE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7B986-691D-ACA7-9F96-17CD89D5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57CC6-BB03-1D0F-4942-82F6CA65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8036-695A-4865-91BB-B6C3C1433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544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6BD1-01C0-02D9-C9B1-751C48BAB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286A2-2DF8-7DD5-D2AE-9B7877541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056CA-6125-8F35-EA4D-2E321EE0F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EEF87A-5438-B6A7-0700-8B236D5FE6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8F9ED9-258C-FA1D-D6E0-DAE758AD1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90D4FC-1ECF-A1AC-84C1-CEE84F51A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CF60-F1C7-4253-BCE3-D90BF4FEFDE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3992C1-5556-52D3-CE3B-152F11CFD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33C111-8780-57CA-EAEA-6ABE222A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8036-695A-4865-91BB-B6C3C1433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013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03E6-BF1C-AA27-A41E-AABDD9CC6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491686-08CB-0E71-6FC4-0996131A3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CF60-F1C7-4253-BCE3-D90BF4FEFDE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618BE-DB48-890E-4130-E48B2AFB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8CE7A-3A79-CFB4-EDEF-BC042D33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8036-695A-4865-91BB-B6C3C1433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81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43530C-A196-44BA-6680-4B3B60D8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CF60-F1C7-4253-BCE3-D90BF4FEFDE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CD0E1B-78AE-A8FF-4EEB-7F0DBA98E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C0CB7-C6B6-5500-3C03-A6EBE7208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8036-695A-4865-91BB-B6C3C1433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31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694E-760B-5FBC-E376-6093E72B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3D69-49D5-8709-5578-E108D2353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6B10A-B238-9764-BBA3-D5037B719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17C61-3AE1-1A9C-818F-D03C4BEA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CF60-F1C7-4253-BCE3-D90BF4FEFDE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D15D1-D4E0-A089-34C0-45E2A449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90745-D461-CBB9-1341-948E5EE60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8036-695A-4865-91BB-B6C3C1433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4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67D6C-717E-9C68-B7AE-62B0DAB3C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EE14B0-FE75-187B-A513-2DF6ECC27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49F6B-94D7-1980-215D-93B8076A9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5CB64-FA06-E1BA-978C-4B566F54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CF60-F1C7-4253-BCE3-D90BF4FEFDE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4E6B0-962C-DB41-A9BE-656E35BC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CC640-81D2-0C3D-42F6-7ADFB898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8036-695A-4865-91BB-B6C3C1433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53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AEA8F-C62F-EBFB-29C3-F7DBBD0CE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F4BE7-46F3-8F5B-85BD-A6AD6389B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886EA-584C-3049-9488-962111047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CF60-F1C7-4253-BCE3-D90BF4FEFDE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75D4C-BFD0-59A1-0A89-D1809FCB6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27800-5DB1-EAFE-CB79-4D937878C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8036-695A-4865-91BB-B6C3C1433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921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7ADEF1-CD16-7E4D-E4E7-A7B81E86F9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DA1B0-33EF-F7B5-2C55-6B38A1C96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205AA-68AD-6CA6-E16B-BE38FCC3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CF60-F1C7-4253-BCE3-D90BF4FEFDE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4D40B-8EAA-AFFC-81A3-B7DA1C6B4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BD2FA-30CD-B93A-94A0-1C6E689CF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8036-695A-4865-91BB-B6C3C1433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586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FD53A-3DD9-F6CA-1522-125088AAE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93A94-2E98-5691-217C-4944768BD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97545-C2C7-2630-2829-782394072B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FCF60-F1C7-4253-BCE3-D90BF4FEFDED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7BB5B-D430-CB38-7931-F2EB25536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CE8F-B214-A061-4299-5F6B196F8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38036-695A-4865-91BB-B6C3C1433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34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70CD9-12AA-BDF5-60D1-358999A1F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585"/>
          </a:xfrm>
        </p:spPr>
        <p:txBody>
          <a:bodyPr>
            <a:normAutofit/>
          </a:bodyPr>
          <a:lstStyle/>
          <a:p>
            <a:pPr algn="ctr"/>
            <a:r>
              <a:rPr lang="en-US" sz="3500" b="1" u="sng" dirty="0">
                <a:latin typeface="Gill Sans MT" panose="020B0502020104020203" pitchFamily="34" charset="0"/>
              </a:rPr>
              <a:t>Data Quality and Validation in ETL</a:t>
            </a:r>
            <a:endParaRPr lang="en-IN" sz="3500" b="1" u="sng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9EB53-BFF5-129F-ECAB-DDD15F92D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4827"/>
            <a:ext cx="10515600" cy="381213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Ans : Data Quality (in ETL pipelines):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The degree to which data is accurate, complete, consistent, valid, timely, and reliable throughout the ETL (Extract–Transform–Load) process so it can be trusted for analysis and decision-making.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Why it is more than just data cleaning: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b="1" i="1" u="sng" dirty="0">
                <a:solidFill>
                  <a:srgbClr val="0070C0"/>
                </a:solidFill>
              </a:rPr>
              <a:t>Covers entire pipeline</a:t>
            </a:r>
            <a:r>
              <a:rPr lang="en-US" i="1" u="sng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→ From extraction → transformation → loading (not just fixing errors) 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Includes validation rules</a:t>
            </a:r>
            <a:r>
              <a:rPr lang="en-US" i="1" u="sng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→ Ensuring correct formats, ranges, and business logic 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Ensures consistency</a:t>
            </a:r>
            <a:r>
              <a:rPr lang="en-US" i="1" u="sng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→ Same data across different systems/sources 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Focuses on completeness</a:t>
            </a:r>
            <a:r>
              <a:rPr lang="en-US" i="1" u="sng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→ Handling missing values, not just removing them </a:t>
            </a:r>
          </a:p>
          <a:p>
            <a:r>
              <a:rPr lang="en-US" b="1" i="1" u="sng" dirty="0">
                <a:solidFill>
                  <a:srgbClr val="0070C0"/>
                </a:solidFill>
              </a:rPr>
              <a:t>Maintains integrity</a:t>
            </a:r>
            <a:r>
              <a:rPr lang="en-US" i="1" u="sng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→ Relationships (keys, constraints) are preserved</a:t>
            </a:r>
          </a:p>
          <a:p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31A19-6F5F-2CD6-8AF1-F424C03230A8}"/>
              </a:ext>
            </a:extLst>
          </p:cNvPr>
          <p:cNvSpPr txBox="1"/>
          <p:nvPr/>
        </p:nvSpPr>
        <p:spPr>
          <a:xfrm>
            <a:off x="838200" y="1229709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Question 1 : Define Data Quality in the context of ETL pipelines. Why is it more than just data cleaning?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602279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92AFA-A239-3335-9B5B-B45EA589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Gill Sans MT" panose="020B0502020104020203" pitchFamily="34" charset="0"/>
              </a:rPr>
              <a:t>Question 2 : Explain why poor data quality leads to misleading dashboards and incorrect decisions.</a:t>
            </a:r>
            <a:endParaRPr lang="en-IN" sz="3000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892AB-AF6A-12C3-8DCB-2A8628820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462" y="160490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Ans : Incorrect data → wrong insights</a:t>
            </a:r>
            <a:br>
              <a:rPr lang="en-US" alt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alt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If sales, costs, or counts are inaccurate, dashboards show false trends.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Missing data → incomplete picture</a:t>
            </a:r>
            <a:br>
              <a:rPr lang="en-US" alt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alt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Key gaps (e.g., missing regions/customers) lead to biased conclusions.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Duplicate data → inflated metrics</a:t>
            </a:r>
            <a:br>
              <a:rPr lang="en-US" alt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alt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Double-counting makes performance look better than reality.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Inconsistent data → confusion</a:t>
            </a:r>
            <a:br>
              <a:rPr lang="en-US" alt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alt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Different formats/definitions across sources → conflicting reports.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Outdated data → wrong timing decisions</a:t>
            </a:r>
            <a:br>
              <a:rPr lang="en-US" alt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alt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Old data can misguide planning (e.g., stock, marketing).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Invalid data → faulty analysis</a:t>
            </a:r>
            <a:br>
              <a:rPr lang="en-US" alt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alt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Wrong formats or values (negative sales, wrong dates) distort visuals. 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  <a:latin typeface="Gill Sans MT" panose="020B0502020104020203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  <a:latin typeface="Gill Sans MT" panose="020B0502020104020203" pitchFamily="34" charset="0"/>
            </a:endParaRPr>
          </a:p>
          <a:p>
            <a:endParaRPr lang="en-US" dirty="0">
              <a:solidFill>
                <a:srgbClr val="0070C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831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61B6-8D85-95C4-4750-4C5BF9B3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Gill Sans MT" panose="020B0502020104020203" pitchFamily="34" charset="0"/>
              </a:rPr>
              <a:t>Question 3 : What is duplicate data? Explain three causes in ETL pipelines.</a:t>
            </a:r>
            <a:endParaRPr lang="en-IN" sz="2800" b="1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8BCFD-C282-CDBA-C431-4087221C9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Ans : </a:t>
            </a:r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Duplicate Data:</a:t>
            </a:r>
            <a:b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Data records that appear </a:t>
            </a:r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more than once</a:t>
            </a: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 in a dataset when they should be unique (same customer, transaction, ID, etc.).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Three causes in ETL pipelines:</a:t>
            </a:r>
            <a:endParaRPr lang="en-US" dirty="0">
              <a:solidFill>
                <a:srgbClr val="0070C0"/>
              </a:solidFill>
              <a:latin typeface="Gill Sans MT" panose="020B0502020104020203" pitchFamily="34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Multiple data sources (overlap)</a:t>
            </a:r>
            <a:b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Same data coming from different systems (e.g., CRM + ERP) without proper matching → duplicates created. </a:t>
            </a: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Improper joins or transformations</a:t>
            </a:r>
            <a:b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Wrong join conditions (like many-to-many joins) can multiply rows unintentionally. </a:t>
            </a: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Reprocessing / incremental load issues</a:t>
            </a:r>
            <a:b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Data gets loaded again (no primary key check or </a:t>
            </a:r>
            <a:r>
              <a:rPr lang="en-US" dirty="0" err="1">
                <a:solidFill>
                  <a:srgbClr val="0070C0"/>
                </a:solidFill>
                <a:latin typeface="Gill Sans MT" panose="020B0502020104020203" pitchFamily="34" charset="0"/>
              </a:rPr>
              <a:t>dedup</a:t>
            </a: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 logic) → same records inserted multiple times. </a:t>
            </a:r>
          </a:p>
          <a:p>
            <a:endParaRPr lang="en-IN" dirty="0">
              <a:solidFill>
                <a:srgbClr val="0070C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686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39911-812F-BCEE-BB6B-97EF89E5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Gill Sans MT" panose="020B0502020104020203" pitchFamily="34" charset="0"/>
              </a:rPr>
              <a:t>Question 4 : Differentiate between exact, partial, and fuzzy duplicates.</a:t>
            </a:r>
            <a:endParaRPr lang="en-IN" sz="2800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B051E-0D98-9339-DCD3-4E2FBC1BD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Ans : 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95A819-8748-CCC1-DD81-5D88209B2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805539"/>
              </p:ext>
            </p:extLst>
          </p:nvPr>
        </p:nvGraphicFramePr>
        <p:xfrm>
          <a:off x="932793" y="2531948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5152559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4809312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662754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011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0070C0"/>
                          </a:solidFill>
                          <a:latin typeface="Gill Sans MT" panose="020B0502020104020203" pitchFamily="34" charset="0"/>
                        </a:rPr>
                        <a:t>Exact duplicates</a:t>
                      </a:r>
                      <a:endParaRPr lang="en-IN">
                        <a:solidFill>
                          <a:srgbClr val="0070C0"/>
                        </a:solidFill>
                        <a:latin typeface="Gill Sans MT" panose="020B05020201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70C0"/>
                          </a:solidFill>
                          <a:latin typeface="Gill Sans MT" panose="020B0502020104020203" pitchFamily="34" charset="0"/>
                        </a:rPr>
                        <a:t>Records are </a:t>
                      </a:r>
                      <a:r>
                        <a:rPr lang="en-US" b="1">
                          <a:solidFill>
                            <a:srgbClr val="0070C0"/>
                          </a:solidFill>
                          <a:latin typeface="Gill Sans MT" panose="020B0502020104020203" pitchFamily="34" charset="0"/>
                        </a:rPr>
                        <a:t>completely identical</a:t>
                      </a:r>
                      <a:r>
                        <a:rPr lang="en-US">
                          <a:solidFill>
                            <a:srgbClr val="0070C0"/>
                          </a:solidFill>
                          <a:latin typeface="Gill Sans MT" panose="020B0502020104020203" pitchFamily="34" charset="0"/>
                        </a:rPr>
                        <a:t> in all fields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70C0"/>
                          </a:solidFill>
                          <a:latin typeface="Gill Sans MT" panose="020B0502020104020203" pitchFamily="34" charset="0"/>
                        </a:rPr>
                        <a:t>Same ID, name, email, phone repeated twice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410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0070C0"/>
                          </a:solidFill>
                          <a:latin typeface="Gill Sans MT" panose="020B0502020104020203" pitchFamily="34" charset="0"/>
                        </a:rPr>
                        <a:t>Partial duplicates</a:t>
                      </a:r>
                      <a:endParaRPr lang="en-IN">
                        <a:solidFill>
                          <a:srgbClr val="0070C0"/>
                        </a:solidFill>
                        <a:latin typeface="Gill Sans MT" panose="020B05020201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70C0"/>
                          </a:solidFill>
                          <a:latin typeface="Gill Sans MT" panose="020B0502020104020203" pitchFamily="34" charset="0"/>
                        </a:rPr>
                        <a:t>Records share </a:t>
                      </a:r>
                      <a:r>
                        <a:rPr lang="en-US" b="1">
                          <a:solidFill>
                            <a:srgbClr val="0070C0"/>
                          </a:solidFill>
                          <a:latin typeface="Gill Sans MT" panose="020B0502020104020203" pitchFamily="34" charset="0"/>
                        </a:rPr>
                        <a:t>some fields same</a:t>
                      </a:r>
                      <a:r>
                        <a:rPr lang="en-US">
                          <a:solidFill>
                            <a:srgbClr val="0070C0"/>
                          </a:solidFill>
                          <a:latin typeface="Gill Sans MT" panose="020B0502020104020203" pitchFamily="34" charset="0"/>
                        </a:rPr>
                        <a:t>, others different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70C0"/>
                          </a:solidFill>
                          <a:latin typeface="Gill Sans MT" panose="020B0502020104020203" pitchFamily="34" charset="0"/>
                        </a:rPr>
                        <a:t>Same name &amp; phone, but different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870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0070C0"/>
                          </a:solidFill>
                          <a:latin typeface="Gill Sans MT" panose="020B0502020104020203" pitchFamily="34" charset="0"/>
                        </a:rPr>
                        <a:t>Fuzzy duplicates</a:t>
                      </a:r>
                      <a:endParaRPr lang="en-IN">
                        <a:solidFill>
                          <a:srgbClr val="0070C0"/>
                        </a:solidFill>
                        <a:latin typeface="Gill Sans MT" panose="020B05020201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070C0"/>
                          </a:solidFill>
                          <a:latin typeface="Gill Sans MT" panose="020B0502020104020203" pitchFamily="34" charset="0"/>
                        </a:rPr>
                        <a:t>Records are </a:t>
                      </a:r>
                      <a:r>
                        <a:rPr lang="en-US" b="1">
                          <a:solidFill>
                            <a:srgbClr val="0070C0"/>
                          </a:solidFill>
                          <a:latin typeface="Gill Sans MT" panose="020B0502020104020203" pitchFamily="34" charset="0"/>
                        </a:rPr>
                        <a:t>slightly different but refer to same entity</a:t>
                      </a:r>
                      <a:r>
                        <a:rPr lang="en-US">
                          <a:solidFill>
                            <a:srgbClr val="0070C0"/>
                          </a:solidFill>
                          <a:latin typeface="Gill Sans MT" panose="020B0502020104020203" pitchFamily="34" charset="0"/>
                        </a:rPr>
                        <a:t> (spelling/format variations)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70C0"/>
                          </a:solidFill>
                          <a:latin typeface="Gill Sans MT" panose="020B0502020104020203" pitchFamily="34" charset="0"/>
                        </a:rPr>
                        <a:t>“Rahul Sharma” vs “Rahul S.” or “Gmail.com” vs “gmail.com”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631296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7E94DDF-8C62-027A-6713-82E0DC162D6F}"/>
              </a:ext>
            </a:extLst>
          </p:cNvPr>
          <p:cNvCxnSpPr>
            <a:cxnSpLocks/>
          </p:cNvCxnSpPr>
          <p:nvPr/>
        </p:nvCxnSpPr>
        <p:spPr>
          <a:xfrm>
            <a:off x="3543300" y="2531948"/>
            <a:ext cx="0" cy="27022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F1E215-3051-C730-E4B8-84BF353407F3}"/>
              </a:ext>
            </a:extLst>
          </p:cNvPr>
          <p:cNvCxnSpPr>
            <a:cxnSpLocks/>
          </p:cNvCxnSpPr>
          <p:nvPr/>
        </p:nvCxnSpPr>
        <p:spPr>
          <a:xfrm>
            <a:off x="7845136" y="2531948"/>
            <a:ext cx="0" cy="27022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045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312A-ACE5-A079-A4C1-29466142F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939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Gill Sans MT" panose="020B0502020104020203" pitchFamily="34" charset="0"/>
              </a:rPr>
              <a:t>Question 5 : Why should data validation be performed during transformation rather than after loading?</a:t>
            </a:r>
            <a:endParaRPr lang="en-IN" sz="2800" b="1" dirty="0">
              <a:latin typeface="Gill Sans MT" panose="020B05020201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805E0B-8D3D-9606-BC61-771F3637D9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46013"/>
            <a:ext cx="1018003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ill Sans MT" panose="020B0502020104020203" pitchFamily="34" charset="0"/>
              </a:rPr>
              <a:t>Ans : Prevents bad data from entering target systems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ill Sans MT" panose="020B05020201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ill Sans MT" panose="020B0502020104020203" pitchFamily="34" charset="0"/>
              </a:rPr>
              <a:t>Errors are caught before they corrupt dashboards/warehouses.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ill Sans MT" panose="020B0502020104020203" pitchFamily="34" charset="0"/>
              </a:rPr>
              <a:t>Cheaper &amp; faster to fix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ill Sans MT" panose="020B05020201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ill Sans MT" panose="020B0502020104020203" pitchFamily="34" charset="0"/>
              </a:rPr>
              <a:t>Fixing issues mid-pipeline is easier than correcting data already stored and used.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ill Sans MT" panose="020B0502020104020203" pitchFamily="34" charset="0"/>
              </a:rPr>
              <a:t>Maintains data integrity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ill Sans MT" panose="020B05020201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ill Sans MT" panose="020B0502020104020203" pitchFamily="34" charset="0"/>
              </a:rPr>
              <a:t>Constraints, formats, and business rules are enforced before final storage.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ill Sans MT" panose="020B0502020104020203" pitchFamily="34" charset="0"/>
              </a:rPr>
              <a:t>Avoids rework &amp; reloads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ill Sans MT" panose="020B05020201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ill Sans MT" panose="020B0502020104020203" pitchFamily="34" charset="0"/>
              </a:rPr>
              <a:t>No need to clean and reload large datasets later.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ill Sans MT" panose="020B0502020104020203" pitchFamily="34" charset="0"/>
              </a:rPr>
              <a:t>Improves pipeline reliability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ill Sans MT" panose="020B0502020104020203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ill Sans MT" panose="020B0502020104020203" pitchFamily="34" charset="0"/>
              </a:rPr>
              <a:t>Ensures only high-quality, validated data moves forward. </a:t>
            </a:r>
          </a:p>
        </p:txBody>
      </p:sp>
    </p:spTree>
    <p:extLst>
      <p:ext uri="{BB962C8B-B14F-4D97-AF65-F5344CB8AC3E}">
        <p14:creationId xmlns:p14="http://schemas.microsoft.com/office/powerpoint/2010/main" val="2927851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0341-0C5D-D240-B5BF-F2E5C74C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Gill Sans MT" panose="020B0502020104020203" pitchFamily="34" charset="0"/>
              </a:rPr>
              <a:t>Question 6 : Explain how business rules help in validating data accuracy. Give an example.</a:t>
            </a:r>
            <a:endParaRPr lang="en-IN" sz="2800" b="1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0FB38-F67D-BB61-32DF-5C3D80D84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Ans : </a:t>
            </a:r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Business Rules in Data Validation:</a:t>
            </a:r>
            <a:b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</a:b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Predefined conditions based on business logic that ensure data is </a:t>
            </a:r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correct, </a:t>
            </a: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meaningful, and aligned with real-world scenarios.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  <a:latin typeface="Gill Sans MT" panose="020B0502020104020203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How they help in accuracy:</a:t>
            </a:r>
            <a:endParaRPr lang="en-US" dirty="0">
              <a:solidFill>
                <a:srgbClr val="0070C0"/>
              </a:solidFill>
              <a:latin typeface="Gill Sans MT" panose="020B0502020104020203" pitchFamily="34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Define what is “valid”</a:t>
            </a: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 → e.g., allowed ranges, formats, conditions </a:t>
            </a: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Catch logical errors</a:t>
            </a: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 → not just format errors (e.g., negative sales) </a:t>
            </a: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Ensure consistency with business processes</a:t>
            </a: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 </a:t>
            </a: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Standardize data across systems</a:t>
            </a: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 </a:t>
            </a: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Filter out invalid or suspicious records</a:t>
            </a:r>
            <a:endParaRPr lang="en-US" dirty="0">
              <a:solidFill>
                <a:srgbClr val="0070C0"/>
              </a:solidFill>
              <a:latin typeface="Gill Sans MT" panose="020B0502020104020203" pitchFamily="34" charset="0"/>
            </a:endParaRPr>
          </a:p>
          <a:p>
            <a:endParaRPr lang="en-IN" dirty="0">
              <a:solidFill>
                <a:srgbClr val="0070C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85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99122-E247-3599-E469-6526718C0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500" b="1" dirty="0">
                <a:latin typeface="Gill Sans MT" panose="020B0502020104020203" pitchFamily="34" charset="0"/>
              </a:rPr>
              <a:t>QUESTION 7 &amp; 8 IN MYSQL QUERIES</a:t>
            </a:r>
          </a:p>
          <a:p>
            <a:endParaRPr lang="en-IN" sz="4500" b="1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880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705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Gill Sans MT</vt:lpstr>
      <vt:lpstr>Office Theme</vt:lpstr>
      <vt:lpstr>Data Quality and Validation in ETL</vt:lpstr>
      <vt:lpstr>Question 2 : Explain why poor data quality leads to misleading dashboards and incorrect decisions.</vt:lpstr>
      <vt:lpstr>Question 3 : What is duplicate data? Explain three causes in ETL pipelines.</vt:lpstr>
      <vt:lpstr>Question 4 : Differentiate between exact, partial, and fuzzy duplicates.</vt:lpstr>
      <vt:lpstr>Question 5 : Why should data validation be performed during transformation rather than after loading?</vt:lpstr>
      <vt:lpstr>Question 6 : Explain how business rules help in validating data accuracy. Give an example.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lakshay maretha</dc:creator>
  <cp:lastModifiedBy>lakshay maretha</cp:lastModifiedBy>
  <cp:revision>1</cp:revision>
  <dcterms:created xsi:type="dcterms:W3CDTF">2026-03-24T08:27:25Z</dcterms:created>
  <dcterms:modified xsi:type="dcterms:W3CDTF">2026-03-24T09:23:58Z</dcterms:modified>
</cp:coreProperties>
</file>